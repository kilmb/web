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3" r:id="rId4"/>
    <p:sldId id="265" r:id="rId5"/>
    <p:sldId id="264" r:id="rId6"/>
    <p:sldId id="266" r:id="rId7"/>
    <p:sldId id="267" r:id="rId8"/>
    <p:sldId id="268" r:id="rId9"/>
    <p:sldId id="261" r:id="rId10"/>
    <p:sldId id="262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283" autoAdjust="0"/>
  </p:normalViewPr>
  <p:slideViewPr>
    <p:cSldViewPr snapToGrid="0">
      <p:cViewPr varScale="1">
        <p:scale>
          <a:sx n="108" d="100"/>
          <a:sy n="108" d="100"/>
        </p:scale>
        <p:origin x="5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8235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0782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465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910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162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229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75545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55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1024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993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68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0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Blur radius="18"/>
                    </a14:imgEffect>
                  </a14:imgLayer>
                </a14:imgProps>
              </a:ext>
            </a:extLst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6633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12">
            <a:extLst>
              <a:ext uri="{FF2B5EF4-FFF2-40B4-BE49-F238E27FC236}">
                <a16:creationId xmlns:a16="http://schemas.microsoft.com/office/drawing/2014/main" id="{FA8847B2-98DB-4CDD-6467-ABD47F245679}"/>
              </a:ext>
            </a:extLst>
          </p:cNvPr>
          <p:cNvSpPr/>
          <p:nvPr/>
        </p:nvSpPr>
        <p:spPr>
          <a:xfrm>
            <a:off x="7386225" y="2577646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110000"/>
                  <a:satMod val="105000"/>
                  <a:tint val="67000"/>
                </a:schemeClr>
              </a:gs>
              <a:gs pos="50000">
                <a:schemeClr val="accent3">
                  <a:lumMod val="105000"/>
                  <a:satMod val="103000"/>
                  <a:tint val="73000"/>
                </a:schemeClr>
              </a:gs>
              <a:gs pos="100000">
                <a:schemeClr val="accent3">
                  <a:lumMod val="105000"/>
                  <a:satMod val="109000"/>
                  <a:tint val="81000"/>
                </a:schemeClr>
              </a:gs>
            </a:gsLst>
            <a:lin ang="13500000" scaled="1"/>
            <a:tileRect/>
          </a:gra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800000" y="182404"/>
            <a:ext cx="8683108" cy="480131"/>
          </a:xfrm>
          <a:noFill/>
          <a:ln>
            <a:noFill/>
          </a:ln>
          <a:effectLst/>
        </p:spPr>
        <p:txBody>
          <a:bodyPr vert="horz" anchor="ctr" anchorCtr="1">
            <a:spAutoFit/>
          </a:bodyPr>
          <a:lstStyle/>
          <a:p>
            <a:r>
              <a:rPr lang="ru-RU" sz="2800" dirty="0">
                <a:ln w="9525">
                  <a:solidFill>
                    <a:schemeClr val="tx1">
                      <a:alpha val="35000"/>
                    </a:schemeClr>
                  </a:solidFill>
                </a:ln>
                <a:solidFill>
                  <a:schemeClr val="tx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Фан-сайт РПЛ</a:t>
            </a:r>
            <a:endParaRPr lang="ru-RU" sz="3200" dirty="0">
              <a:ln w="9525">
                <a:solidFill>
                  <a:schemeClr val="tx1">
                    <a:alpha val="35000"/>
                  </a:schemeClr>
                </a:solidFill>
              </a:ln>
              <a:solidFill>
                <a:schemeClr val="tx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1800000" y="2577646"/>
            <a:ext cx="3096883" cy="1811547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2011346" y="2813447"/>
            <a:ext cx="267418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Лукичев Евгений Сергеевич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571692" y="2560089"/>
            <a:ext cx="272594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Налимова Светлана Алексеевна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Гиниатуллин Данияр Рамильевич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030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6351" y="790888"/>
            <a:ext cx="10748374" cy="500332"/>
          </a:xfrm>
        </p:spPr>
        <p:txBody>
          <a:bodyPr>
            <a:norm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258787" y="1632247"/>
            <a:ext cx="9714013" cy="4094607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интерактивного веб-портала, предназначенного для болельщиков РФПЛ, с целью предоставления актуальной статистической информации и реализации набора интерактивных сервисов.</a:t>
            </a:r>
          </a:p>
        </p:txBody>
      </p:sp>
    </p:spTree>
    <p:extLst>
      <p:ext uri="{BB962C8B-B14F-4D97-AF65-F5344CB8AC3E}">
        <p14:creationId xmlns:p14="http://schemas.microsoft.com/office/powerpoint/2010/main" val="2501321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78688-9962-C26C-A69B-FEBFA37E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84B5FB-C1C7-B686-2893-50895CFEA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351" y="613723"/>
            <a:ext cx="10748374" cy="500332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297316C-BF71-34E2-E0F9-09196637A7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6351" y="1562884"/>
            <a:ext cx="9700725" cy="4094607"/>
          </a:xfrm>
        </p:spPr>
        <p:txBody>
          <a:bodyPr>
            <a:normAutofit fontScale="92500" lnSpcReduction="10000"/>
          </a:bodyPr>
          <a:lstStyle/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спроектировать базу данных для хранения всей системной информации.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систему безопасного входа и разделения прав пользователей.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Настроить автоматическое обновление спортивных данных через внешнее API.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персонализированный профиль пользователя с возможностями кастомизации.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Внедрить три ключевых интерактивных модуля: Тесты, Ставки и систему Виртуального баланса.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инструменты администратора для управления платформой.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работоспособности и удобства использования системы.</a:t>
            </a:r>
          </a:p>
          <a:p>
            <a:br>
              <a:rPr lang="ru-RU" sz="2000" dirty="0"/>
            </a:b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1151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DCFE-5F04-2367-50D7-ACBEF5B5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3A8C8B-99FD-62CE-5877-9B5075419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270" y="204388"/>
            <a:ext cx="3964619" cy="480131"/>
          </a:xfrm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Основной функционал: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F6F45-4534-C7EA-7794-825E9B16E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843524"/>
            <a:ext cx="6371854" cy="23407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 РПЛ с актуальными данными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Календарь матчей по турам с возможностью переключения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Информация о всех клубах РПЛ с картами стадионов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определение текущего тура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5" name="Рисунок 4" descr="Изображение выглядит как текст, снимок экрана, программное обеспечение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C24AB26-9F4E-5FDC-7866-EA6644AD8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70" y="3343275"/>
            <a:ext cx="4960073" cy="3086497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Шрифт, линия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F7D42EF-4F51-DC31-C014-4B533EDFD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8150" y="4164944"/>
            <a:ext cx="6581196" cy="1443158"/>
          </a:xfrm>
          <a:prstGeom prst="rect">
            <a:avLst/>
          </a:prstGeom>
        </p:spPr>
      </p:pic>
      <p:sp>
        <p:nvSpPr>
          <p:cNvPr id="10" name="Объект 2">
            <a:extLst>
              <a:ext uri="{FF2B5EF4-FFF2-40B4-BE49-F238E27FC236}">
                <a16:creationId xmlns:a16="http://schemas.microsoft.com/office/drawing/2014/main" id="{396E3625-7885-53F6-B32C-74476FF84DE1}"/>
              </a:ext>
            </a:extLst>
          </p:cNvPr>
          <p:cNvSpPr txBox="1">
            <a:spLocks/>
          </p:cNvSpPr>
          <p:nvPr/>
        </p:nvSpPr>
        <p:spPr>
          <a:xfrm>
            <a:off x="6715124" y="684519"/>
            <a:ext cx="5304222" cy="30864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ставок: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Ставки на предстоящие матчи с виртуальной валютой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варианта исхода: победа хозяев, ничья, победа гостей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Автоматический расчет результатов после матчей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Удвоение выигрыша при правильном прогнозе</a:t>
            </a:r>
          </a:p>
        </p:txBody>
      </p:sp>
    </p:spTree>
    <p:extLst>
      <p:ext uri="{BB962C8B-B14F-4D97-AF65-F5344CB8AC3E}">
        <p14:creationId xmlns:p14="http://schemas.microsoft.com/office/powerpoint/2010/main" val="1832056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2132F70D-E589-1B4B-F5D0-53D58257C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229" y="222787"/>
            <a:ext cx="6064096" cy="19885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и авторизация: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с выбором любимого клуба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 для зарегистрированных пользователей</a:t>
            </a:r>
          </a:p>
          <a:p>
            <a:pPr marL="0" indent="0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15" name="Рисунок 14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80D3096-B529-E527-97C5-BBBC20578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70" y="2661438"/>
            <a:ext cx="6067055" cy="3338004"/>
          </a:xfrm>
          <a:prstGeom prst="rect">
            <a:avLst/>
          </a:prstGeom>
        </p:spPr>
      </p:pic>
      <p:pic>
        <p:nvPicPr>
          <p:cNvPr id="19" name="Рисунок 18" descr="Изображение выглядит как текст, снимок экрана, диаграмма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4E103FC-904C-A272-89EA-983E44EE0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1374" y="2661438"/>
            <a:ext cx="3097501" cy="3338004"/>
          </a:xfrm>
          <a:prstGeom prst="rect">
            <a:avLst/>
          </a:prstGeom>
          <a:noFill/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407F7F1-A132-A65F-4072-BD6A420998FC}"/>
              </a:ext>
            </a:extLst>
          </p:cNvPr>
          <p:cNvSpPr txBox="1"/>
          <p:nvPr/>
        </p:nvSpPr>
        <p:spPr>
          <a:xfrm>
            <a:off x="6951374" y="222787"/>
            <a:ext cx="5193001" cy="198859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Колесо удачи: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Ежедневная возможность вращения (раз в 24 часа)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10 секторов с разными призами/штрафами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Анимация вращения и визуальные эффекты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Система вероятностей для разных призов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919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08455-63B1-D0C1-CB07-B42BA52F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ECC13BF-C63B-F00F-81F9-E2F28A0D7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214874"/>
            <a:ext cx="6371854" cy="23407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 пользователя: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имени и информации "о себе"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Загрузка и изменение аватара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текущего баланса монет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 активности (ставки, тесты)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35DCE67A-70B7-9698-8E7F-6AC1A2FF2CC2}"/>
              </a:ext>
            </a:extLst>
          </p:cNvPr>
          <p:cNvSpPr txBox="1">
            <a:spLocks/>
          </p:cNvSpPr>
          <p:nvPr/>
        </p:nvSpPr>
        <p:spPr>
          <a:xfrm>
            <a:off x="6715124" y="214875"/>
            <a:ext cx="5304222" cy="285217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Магазин тем оформления: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визуальных тем (синяя, темная, индиго, закат, лес, багровая, золотая, клубная)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Покупка премиальных тем за виртуальную валюту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Предпросмотр темы перед покупкой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Мгновенное применение выбранной темы</a:t>
            </a:r>
          </a:p>
          <a:p>
            <a:pPr marL="0" indent="0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 descr="Изображение выглядит как текст, снимок экрана, Шрифт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8E46ACF-DF72-06F0-86F9-E02EC0461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38" y="3429000"/>
            <a:ext cx="5976262" cy="2696460"/>
          </a:xfrm>
          <a:prstGeom prst="rect">
            <a:avLst/>
          </a:prstGeom>
        </p:spPr>
      </p:pic>
      <p:pic>
        <p:nvPicPr>
          <p:cNvPr id="14" name="Рисунок 1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0182F5F-3A7E-2E88-8778-3AB60BB8A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124" y="3429000"/>
            <a:ext cx="4943476" cy="2696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47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023E7-7AED-07E7-340E-CB2EABBE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BBADCDA-181C-0A7C-208E-C65CD19C2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214874"/>
            <a:ext cx="6371854" cy="23407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Детали матча: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информация о матче (составы, статистика)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Интерактивная статистика (владение мячом, удары, фолы)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формы команд (последние 5 матчей)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Чат для обсуждения матча с другими болельщиками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4" name="Рисунок 3" descr="Изображение выглядит как текст, снимок экран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9FEDA92-DD36-59AA-4A22-8AA6A7CAF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849" y="214874"/>
            <a:ext cx="4609881" cy="6419850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8BF0325-E3DD-CA70-4BCF-49693F43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270" y="3305175"/>
            <a:ext cx="6432469" cy="332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876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5F576-7655-C5C5-B3F3-247F42A1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94A670AD-09BC-1A01-1292-39458EBC6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214874"/>
            <a:ext cx="6314705" cy="16710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из внешнего API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Визуальное выделение клуба пользователя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статистика команд (игры, победы, голы, очки)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5" name="Рисунок 4" descr="Изображение выглядит как текст, снимок экрана, число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A57F0E-BFE5-F688-BFFB-B930800DB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70" y="1977589"/>
            <a:ext cx="6314705" cy="4665537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снимок экрана, Шрифт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4E7535B-E38A-7B81-C641-073D7C325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612" y="2971799"/>
            <a:ext cx="4982118" cy="3095625"/>
          </a:xfrm>
          <a:prstGeom prst="rect">
            <a:avLst/>
          </a:prstGeom>
        </p:spPr>
      </p:pic>
      <p:sp>
        <p:nvSpPr>
          <p:cNvPr id="9" name="Объект 2">
            <a:extLst>
              <a:ext uri="{FF2B5EF4-FFF2-40B4-BE49-F238E27FC236}">
                <a16:creationId xmlns:a16="http://schemas.microsoft.com/office/drawing/2014/main" id="{11CB7C3D-A337-B45F-14D1-FBF61FE93CCB}"/>
              </a:ext>
            </a:extLst>
          </p:cNvPr>
          <p:cNvSpPr txBox="1">
            <a:spLocks/>
          </p:cNvSpPr>
          <p:nvPr/>
        </p:nvSpPr>
        <p:spPr>
          <a:xfrm>
            <a:off x="6866613" y="306513"/>
            <a:ext cx="4982117" cy="22557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Тесты на знание РПЛ: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уровня сложности: легкий, средний, сложный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вопросов в каждом тесте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Награда монетами за правильные ответы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Подробный разбор результатов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72055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31914"/>
            <a:ext cx="10515600" cy="521681"/>
          </a:xfrm>
        </p:spPr>
        <p:txBody>
          <a:bodyPr>
            <a:sp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Уникальные отличия нашего фан-сайта от конкурентов</a:t>
            </a:r>
            <a: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199" y="1164341"/>
            <a:ext cx="10515599" cy="4529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Игровой подход: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Полноценная экономика с виртуальной валютой, магазином и системой заработка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уровня тестов (легкий/средний/сложный) с разными наградами — аналог игровых "уровней сложности"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Колесо удачи с ежедневными наградами — механика из мобильных игр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Продвинутая система персонализации: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кастомизируемых тем (индиго, закат, лес и т.д.)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Клубная тема оформления с автоматическим применением цветов команды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предпросмотр тем и рамок при наведении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4365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499883"/>
            <a:ext cx="9412857" cy="750497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97204"/>
            <a:ext cx="10515600" cy="4351338"/>
          </a:xfrm>
        </p:spPr>
        <p:txBody>
          <a:bodyPr>
            <a:normAutofit/>
          </a:bodyPr>
          <a:lstStyle/>
          <a:p>
            <a:r>
              <a:rPr lang="ru-RU" sz="2200" dirty="0"/>
              <a:t>Была успешно развёрнута </a:t>
            </a:r>
            <a:r>
              <a:rPr lang="ru-RU" sz="2200" dirty="0" err="1"/>
              <a:t>backend</a:t>
            </a:r>
            <a:r>
              <a:rPr lang="ru-RU" sz="2200" dirty="0"/>
              <a:t>-архитектура на </a:t>
            </a:r>
            <a:r>
              <a:rPr lang="ru-RU" sz="2200" dirty="0" err="1"/>
              <a:t>Flask</a:t>
            </a:r>
            <a:r>
              <a:rPr lang="ru-RU" sz="2200" dirty="0"/>
              <a:t> </a:t>
            </a:r>
            <a:r>
              <a:rPr lang="ru-RU" sz="2200"/>
              <a:t>и спроектирована база </a:t>
            </a:r>
            <a:r>
              <a:rPr lang="ru-RU" sz="2200" dirty="0"/>
              <a:t>данных.</a:t>
            </a:r>
          </a:p>
          <a:p>
            <a:r>
              <a:rPr lang="ru-RU" sz="2200" dirty="0"/>
              <a:t>Реализован полный спектр запланированных функций: от системы аутентификации и интеграции с внешним API до модулей игровых механик и личного кабинета.</a:t>
            </a:r>
          </a:p>
          <a:p>
            <a:r>
              <a:rPr lang="ru-RU" sz="2200" dirty="0"/>
              <a:t>Подтверждена эффективность выбранного набора технологий для создания сложных веб-приложений с интерактивными элементами.</a:t>
            </a:r>
          </a:p>
          <a:p>
            <a:r>
              <a:rPr lang="ru-RU" sz="2200" dirty="0"/>
              <a:t>Разработанный продукт представляет собой законченное, работоспособное решение, готовое к следующему этапу — публичному бета-тестированию и дальнейшему развитию.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014160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526</Words>
  <Application>Microsoft Office PowerPoint</Application>
  <PresentationFormat>Широкоэкранный</PresentationFormat>
  <Paragraphs>83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Фан-сайт РПЛ</vt:lpstr>
      <vt:lpstr>Цель:</vt:lpstr>
      <vt:lpstr>Задачи:</vt:lpstr>
      <vt:lpstr>Основной функционал:</vt:lpstr>
      <vt:lpstr>Презентация PowerPoint</vt:lpstr>
      <vt:lpstr>Презентация PowerPoint</vt:lpstr>
      <vt:lpstr>Презентация PowerPoint</vt:lpstr>
      <vt:lpstr>Презентация PowerPoint</vt:lpstr>
      <vt:lpstr>Уникальные отличия нашего фан-сайта от конкурентов:</vt:lpstr>
      <vt:lpstr>Выводы: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Фан-сайт РПЛ</dc:title>
  <dc:creator>student</dc:creator>
  <cp:lastModifiedBy>Данияр Гиниатуллин</cp:lastModifiedBy>
  <cp:revision>23</cp:revision>
  <dcterms:created xsi:type="dcterms:W3CDTF">2025-11-27T11:16:13Z</dcterms:created>
  <dcterms:modified xsi:type="dcterms:W3CDTF">2025-12-15T00:40:50Z</dcterms:modified>
</cp:coreProperties>
</file>